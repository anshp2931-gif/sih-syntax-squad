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20B0502040204020203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Medium" panose="020B0502040204020203" pitchFamily="2" charset="0"/>
      <p:regular r:id="rId11"/>
    </p:embeddedFont>
    <p:embeddedFont>
      <p:font typeface="Poppins Semi-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1.jpe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2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1.jpe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1.jpe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" Type="http://schemas.openxmlformats.org/officeDocument/2006/relationships/image" Target="../media/image2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8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2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1.jpe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384048"/>
            <a:ext cx="13167360" cy="850392"/>
            <a:chOff x="0" y="0"/>
            <a:chExt cx="17556480" cy="1133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56480" cy="1133856"/>
            </a:xfrm>
            <a:custGeom>
              <a:avLst/>
              <a:gdLst/>
              <a:ahLst/>
              <a:cxnLst/>
              <a:rect l="l" t="t" r="r" b="b"/>
              <a:pathLst>
                <a:path w="17556480" h="1133856">
                  <a:moveTo>
                    <a:pt x="0" y="0"/>
                  </a:moveTo>
                  <a:lnTo>
                    <a:pt x="17556480" y="0"/>
                  </a:lnTo>
                  <a:lnTo>
                    <a:pt x="17556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703" b="-25170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55648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F4E7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INDIA HACKATHON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56180" y="246888"/>
            <a:ext cx="2743200" cy="1289304"/>
            <a:chOff x="0" y="0"/>
            <a:chExt cx="3657600" cy="1719072"/>
          </a:xfrm>
        </p:grpSpPr>
        <p:sp>
          <p:nvSpPr>
            <p:cNvPr id="6" name="Freeform 6" descr="sih_logo.png"/>
            <p:cNvSpPr/>
            <p:nvPr/>
          </p:nvSpPr>
          <p:spPr>
            <a:xfrm>
              <a:off x="0" y="0"/>
              <a:ext cx="3657600" cy="1719072"/>
            </a:xfrm>
            <a:custGeom>
              <a:avLst/>
              <a:gdLst/>
              <a:ahLst/>
              <a:cxnLst/>
              <a:rect l="l" t="t" r="r" b="b"/>
              <a:pathLst>
                <a:path w="3657600" h="1719072">
                  <a:moveTo>
                    <a:pt x="0" y="0"/>
                  </a:moveTo>
                  <a:lnTo>
                    <a:pt x="3657600" y="0"/>
                  </a:lnTo>
                  <a:lnTo>
                    <a:pt x="3657600" y="1719072"/>
                  </a:lnTo>
                  <a:lnTo>
                    <a:pt x="0" y="171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" b="-12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24712" y="1823085"/>
            <a:ext cx="946404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ID – SIH26188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4712" y="2728341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Title- Indian Document Authenticity &amp; Multi-Layer Verification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712" y="4119057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Theme- Blockchain &amp; Cybersecurity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4712" y="5102172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PS Category-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4712" y="6007026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ID-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712" y="7000790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Name - Syntax Squad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712" y="7994554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Idea Title-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PramaanSetu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INDIA - Multi-Layer Document Authenticity Platform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41380" y="2057400"/>
            <a:ext cx="6446520" cy="6556248"/>
            <a:chOff x="0" y="0"/>
            <a:chExt cx="8595360" cy="8741664"/>
          </a:xfrm>
        </p:grpSpPr>
        <p:sp>
          <p:nvSpPr>
            <p:cNvPr id="15" name="Freeform 15" descr="brain_graphic.png"/>
            <p:cNvSpPr/>
            <p:nvPr/>
          </p:nvSpPr>
          <p:spPr>
            <a:xfrm>
              <a:off x="0" y="0"/>
              <a:ext cx="8595360" cy="8741664"/>
            </a:xfrm>
            <a:custGeom>
              <a:avLst/>
              <a:gdLst/>
              <a:ahLst/>
              <a:cxnLst/>
              <a:rect l="l" t="t" r="r" b="b"/>
              <a:pathLst>
                <a:path w="8595360" h="8741664">
                  <a:moveTo>
                    <a:pt x="0" y="0"/>
                  </a:moveTo>
                  <a:lnTo>
                    <a:pt x="8595360" y="0"/>
                  </a:lnTo>
                  <a:lnTo>
                    <a:pt x="8595360" y="8741664"/>
                  </a:lnTo>
                  <a:lnTo>
                    <a:pt x="0" y="874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1" b="-41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20240" y="192024"/>
            <a:ext cx="12893040" cy="904823"/>
            <a:chOff x="0" y="0"/>
            <a:chExt cx="17190720" cy="1206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90720" cy="1206431"/>
            </a:xfrm>
            <a:custGeom>
              <a:avLst/>
              <a:gdLst/>
              <a:ahLst/>
              <a:cxnLst/>
              <a:rect l="l" t="t" r="r" b="b"/>
              <a:pathLst>
                <a:path w="17190720" h="1206431">
                  <a:moveTo>
                    <a:pt x="0" y="0"/>
                  </a:moveTo>
                  <a:lnTo>
                    <a:pt x="17190720" y="0"/>
                  </a:lnTo>
                  <a:lnTo>
                    <a:pt x="17190720" y="1206431"/>
                  </a:lnTo>
                  <a:lnTo>
                    <a:pt x="0" y="12064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0654" b="-22463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190720" cy="12350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62084" y="394667"/>
            <a:ext cx="11082528" cy="97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AI VERIFICATION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65170" y="1472279"/>
            <a:ext cx="9784080" cy="40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End-to-end multi-layer document authenticity and risk assessment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04925" y="2104598"/>
            <a:ext cx="4791075" cy="1724025"/>
          </a:xfrm>
          <a:custGeom>
            <a:avLst/>
            <a:gdLst/>
            <a:ahLst/>
            <a:cxnLst/>
            <a:rect l="l" t="t" r="r" b="b"/>
            <a:pathLst>
              <a:path w="4791075" h="1724025">
                <a:moveTo>
                  <a:pt x="0" y="0"/>
                </a:moveTo>
                <a:lnTo>
                  <a:pt x="4791075" y="0"/>
                </a:lnTo>
                <a:lnTo>
                  <a:pt x="4791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40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761488" y="2615983"/>
            <a:ext cx="2852928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VERIFICATION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6524625" y="2104598"/>
            <a:ext cx="5238750" cy="1724025"/>
          </a:xfrm>
          <a:custGeom>
            <a:avLst/>
            <a:gdLst/>
            <a:ahLst/>
            <a:cxnLst/>
            <a:rect l="l" t="t" r="r" b="b"/>
            <a:pathLst>
              <a:path w="5238750" h="1724025">
                <a:moveTo>
                  <a:pt x="0" y="0"/>
                </a:moveTo>
                <a:lnTo>
                  <a:pt x="5238750" y="0"/>
                </a:lnTo>
                <a:lnTo>
                  <a:pt x="5238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7437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991856" y="3032142"/>
            <a:ext cx="213969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354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Detect suspicious document manipulation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192000" y="2104598"/>
            <a:ext cx="4572000" cy="1724025"/>
          </a:xfrm>
          <a:custGeom>
            <a:avLst/>
            <a:gdLst/>
            <a:ahLst/>
            <a:cxnLst/>
            <a:rect l="l" t="t" r="r" b="b"/>
            <a:pathLst>
              <a:path w="4572000" h="1724025">
                <a:moveTo>
                  <a:pt x="0" y="0"/>
                </a:moveTo>
                <a:lnTo>
                  <a:pt x="4572000" y="0"/>
                </a:lnTo>
                <a:lnTo>
                  <a:pt x="45720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401550" y="2533223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679424" y="2994042"/>
            <a:ext cx="197510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 / Medium / High with evidence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93776" y="4693957"/>
            <a:ext cx="1133856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</a:t>
            </a:r>
          </a:p>
        </p:txBody>
      </p:sp>
      <p:sp>
        <p:nvSpPr>
          <p:cNvPr id="27" name="Freeform 27"/>
          <p:cNvSpPr/>
          <p:nvPr/>
        </p:nvSpPr>
        <p:spPr>
          <a:xfrm>
            <a:off x="1733550" y="4676348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952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414016" y="4680086"/>
            <a:ext cx="95097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CAPTURE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3476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14775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261104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1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IMAGE QUALITY</a:t>
            </a:r>
          </a:p>
        </p:txBody>
      </p:sp>
      <p:sp>
        <p:nvSpPr>
          <p:cNvPr id="33" name="Freeform 33"/>
          <p:cNvSpPr/>
          <p:nvPr/>
        </p:nvSpPr>
        <p:spPr>
          <a:xfrm>
            <a:off x="5219700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657850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035040" y="4577478"/>
            <a:ext cx="122529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518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OCR + FIELD EXTRACTION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7400925" y="467634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9512554" y="47053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01077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1" name="TextBox 41"/>
          <p:cNvSpPr txBox="1"/>
          <p:nvPr/>
        </p:nvSpPr>
        <p:spPr>
          <a:xfrm>
            <a:off x="10259568" y="4557666"/>
            <a:ext cx="122529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TAMPERING ANALYSIS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534775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1972925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2252960" y="4576716"/>
            <a:ext cx="140817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1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MRZ / FIELD CONSISTENCY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716000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4144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4447520" y="4586241"/>
            <a:ext cx="122529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lang="en-US" sz="138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FACE VERIFICATION</a:t>
            </a:r>
          </a:p>
        </p:txBody>
      </p:sp>
      <p:sp>
        <p:nvSpPr>
          <p:cNvPr id="48" name="Freeform 48"/>
          <p:cNvSpPr/>
          <p:nvPr/>
        </p:nvSpPr>
        <p:spPr>
          <a:xfrm>
            <a:off x="15668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5887700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6276320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 RISK ENGINE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582775" y="5324048"/>
            <a:ext cx="2181225" cy="857250"/>
          </a:xfrm>
          <a:custGeom>
            <a:avLst/>
            <a:gdLst/>
            <a:ahLst/>
            <a:cxnLst/>
            <a:rect l="l" t="t" r="r" b="b"/>
            <a:pathLst>
              <a:path w="2181225" h="857250">
                <a:moveTo>
                  <a:pt x="0" y="0"/>
                </a:moveTo>
                <a:lnTo>
                  <a:pt x="2181225" y="0"/>
                </a:lnTo>
                <a:lnTo>
                  <a:pt x="2181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3058775" y="6819473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2192000" y="6181298"/>
            <a:ext cx="1962150" cy="857250"/>
          </a:xfrm>
          <a:custGeom>
            <a:avLst/>
            <a:gdLst/>
            <a:ahLst/>
            <a:cxnLst/>
            <a:rect l="l" t="t" r="r" b="b"/>
            <a:pathLst>
              <a:path w="1962150" h="857250">
                <a:moveTo>
                  <a:pt x="0" y="0"/>
                </a:moveTo>
                <a:lnTo>
                  <a:pt x="1962150" y="0"/>
                </a:lnTo>
                <a:lnTo>
                  <a:pt x="196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414462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610677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2761488" y="3082410"/>
            <a:ext cx="2926080" cy="25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453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OCR + MRZ + Document + Face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991856" y="2606041"/>
            <a:ext cx="2999232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18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TAMPERING-AWARE ANALYSIS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79424" y="2602112"/>
            <a:ext cx="259689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RISK 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55296" y="6470024"/>
            <a:ext cx="98755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LOW RISK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465808" y="6470024"/>
            <a:ext cx="135331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MEDIUM RISK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6605504" y="6470024"/>
            <a:ext cx="1060704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HIGH RISK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5238857" y="464399"/>
            <a:ext cx="2674620" cy="1255014"/>
            <a:chOff x="0" y="0"/>
            <a:chExt cx="3566160" cy="1673352"/>
          </a:xfrm>
        </p:grpSpPr>
        <p:sp>
          <p:nvSpPr>
            <p:cNvPr id="63" name="Freeform 6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t="-202" b="-202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70" name="Freeform 40">
            <a:extLst>
              <a:ext uri="{FF2B5EF4-FFF2-40B4-BE49-F238E27FC236}">
                <a16:creationId xmlns:a16="http://schemas.microsoft.com/office/drawing/2014/main" id="{8CD5028D-31D9-0089-EDC6-4D296E627C4D}"/>
              </a:ext>
            </a:extLst>
          </p:cNvPr>
          <p:cNvSpPr/>
          <p:nvPr/>
        </p:nvSpPr>
        <p:spPr>
          <a:xfrm>
            <a:off x="7854506" y="4038173"/>
            <a:ext cx="1752600" cy="1477182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r>
              <a:rPr lang="en-US" sz="1520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 VALIDATION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85" y="-1602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92" r="-309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" name="Freeform 4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7" y="9928900"/>
            <a:ext cx="18287543" cy="370960"/>
            <a:chOff x="0" y="0"/>
            <a:chExt cx="24383390" cy="987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3364" cy="987552"/>
            </a:xfrm>
            <a:custGeom>
              <a:avLst/>
              <a:gdLst/>
              <a:ahLst/>
              <a:cxnLst/>
              <a:rect l="l" t="t" r="r" b="b"/>
              <a:pathLst>
                <a:path w="24383364" h="987552">
                  <a:moveTo>
                    <a:pt x="0" y="0"/>
                  </a:moveTo>
                  <a:lnTo>
                    <a:pt x="24383364" y="0"/>
                  </a:lnTo>
                  <a:lnTo>
                    <a:pt x="24383364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11479" y="9806368"/>
            <a:ext cx="12248111" cy="622303"/>
            <a:chOff x="0" y="-19049"/>
            <a:chExt cx="14630400" cy="6408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49"/>
              <a:ext cx="14630400" cy="640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396003" y="9806368"/>
            <a:ext cx="548640" cy="480632"/>
            <a:chOff x="0" y="-19050"/>
            <a:chExt cx="731520" cy="640843"/>
          </a:xfrm>
        </p:grpSpPr>
        <p:sp>
          <p:nvSpPr>
            <p:cNvPr id="11" name="Freeform 11"/>
            <p:cNvSpPr/>
            <p:nvPr/>
          </p:nvSpPr>
          <p:spPr>
            <a:xfrm>
              <a:off x="0" y="1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78840" y="10341864"/>
            <a:ext cx="4365803" cy="556937"/>
            <a:chOff x="0" y="0"/>
            <a:chExt cx="5821070" cy="7425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21070" cy="742582"/>
            </a:xfrm>
            <a:custGeom>
              <a:avLst/>
              <a:gdLst/>
              <a:ahLst/>
              <a:cxnLst/>
              <a:rect l="l" t="t" r="r" b="b"/>
              <a:pathLst>
                <a:path w="5821070" h="742582">
                  <a:moveTo>
                    <a:pt x="0" y="0"/>
                  </a:moveTo>
                  <a:lnTo>
                    <a:pt x="5821070" y="0"/>
                  </a:lnTo>
                  <a:lnTo>
                    <a:pt x="5821070" y="742582"/>
                  </a:lnTo>
                  <a:lnTo>
                    <a:pt x="0" y="7425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487" b="-10199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821070" cy="771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endParaRPr lang="en-US" sz="1425" b="1" dirty="0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07489" y="358101"/>
            <a:ext cx="1281988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581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ARCHITECTURE LAYERS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210666" y="138217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639291" y="1656588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777719" y="1893951"/>
            <a:ext cx="31455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CAPTURE</a:t>
            </a:r>
          </a:p>
        </p:txBody>
      </p:sp>
      <p:sp>
        <p:nvSpPr>
          <p:cNvPr id="20" name="Freeform 20"/>
          <p:cNvSpPr/>
          <p:nvPr/>
        </p:nvSpPr>
        <p:spPr>
          <a:xfrm>
            <a:off x="6992216" y="1875663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965671" y="1910715"/>
            <a:ext cx="193852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2"/>
              </a:lnSpc>
            </a:pPr>
            <a:r>
              <a:rPr lang="en-US" sz="173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/ Upload</a:t>
            </a:r>
          </a:p>
        </p:txBody>
      </p:sp>
      <p:sp>
        <p:nvSpPr>
          <p:cNvPr id="22" name="Freeform 22"/>
          <p:cNvSpPr/>
          <p:nvPr/>
        </p:nvSpPr>
        <p:spPr>
          <a:xfrm>
            <a:off x="9392516" y="230428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215921" y="2515710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639291" y="27329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777719" y="2893314"/>
            <a:ext cx="248716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1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6992216" y="27329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965671" y="2940939"/>
            <a:ext cx="68762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5"/>
              </a:lnSpc>
            </a:pPr>
            <a:r>
              <a:rPr lang="en-US" sz="171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Image Quality Check, Laplacian Clarity, Image Normalization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9392516" y="337108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210666" y="3591246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2639291" y="37997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77719" y="3935539"/>
            <a:ext cx="18836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6992216" y="37997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965671" y="3958590"/>
            <a:ext cx="605332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Tesseract.js OCR, MRZ Parser, Field Extraction, jsQR</a:t>
            </a:r>
          </a:p>
        </p:txBody>
      </p:sp>
      <p:sp>
        <p:nvSpPr>
          <p:cNvPr id="34" name="Freeform 34"/>
          <p:cNvSpPr/>
          <p:nvPr/>
        </p:nvSpPr>
        <p:spPr>
          <a:xfrm>
            <a:off x="9392516" y="422833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223749" y="465696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667359" y="4636390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3777719" y="4953953"/>
            <a:ext cx="204825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VERIFICATION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6992216" y="4876038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7965671" y="4861750"/>
            <a:ext cx="709574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958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Validation, Verhoff Checklist, MRZ Consistency, Face Verification, ELA Tampering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9392516" y="53046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2223749" y="5717572"/>
            <a:ext cx="14382750" cy="857250"/>
          </a:xfrm>
          <a:custGeom>
            <a:avLst/>
            <a:gdLst/>
            <a:ahLst/>
            <a:cxnLst/>
            <a:rect l="l" t="t" r="r" b="b"/>
            <a:pathLst>
              <a:path w="14382750" h="857250">
                <a:moveTo>
                  <a:pt x="0" y="0"/>
                </a:moveTo>
                <a:lnTo>
                  <a:pt x="14382750" y="0"/>
                </a:lnTo>
                <a:lnTo>
                  <a:pt x="14382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639291" y="5733288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777719" y="5958840"/>
            <a:ext cx="221284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34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AI RISK ENGINE</a:t>
            </a:r>
          </a:p>
        </p:txBody>
      </p:sp>
      <p:sp>
        <p:nvSpPr>
          <p:cNvPr id="44" name="Freeform 44"/>
          <p:cNvSpPr/>
          <p:nvPr/>
        </p:nvSpPr>
        <p:spPr>
          <a:xfrm>
            <a:off x="6992216" y="5942838"/>
            <a:ext cx="228600" cy="438150"/>
          </a:xfrm>
          <a:custGeom>
            <a:avLst/>
            <a:gdLst/>
            <a:ahLst/>
            <a:cxnLst/>
            <a:rect l="l" t="t" r="r" b="b"/>
            <a:pathLst>
              <a:path w="228600" h="43815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7965671" y="6000940"/>
            <a:ext cx="563270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8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Weighted Multi-Signal Scoring, 0–100 Risk Score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9392516" y="63714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2223749" y="6542474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3777719" y="6996303"/>
            <a:ext cx="263347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+ AUDIT</a:t>
            </a:r>
          </a:p>
        </p:txBody>
      </p:sp>
      <p:sp>
        <p:nvSpPr>
          <p:cNvPr id="50" name="Freeform 50"/>
          <p:cNvSpPr/>
          <p:nvPr/>
        </p:nvSpPr>
        <p:spPr>
          <a:xfrm>
            <a:off x="6992216" y="6800088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7430366" y="6800088"/>
            <a:ext cx="1971675" cy="866775"/>
          </a:xfrm>
          <a:custGeom>
            <a:avLst/>
            <a:gdLst/>
            <a:ahLst/>
            <a:cxnLst/>
            <a:rect l="l" t="t" r="r" b="b"/>
            <a:pathLst>
              <a:path w="1971675" h="866775">
                <a:moveTo>
                  <a:pt x="0" y="0"/>
                </a:moveTo>
                <a:lnTo>
                  <a:pt x="1971675" y="0"/>
                </a:lnTo>
                <a:lnTo>
                  <a:pt x="1971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7727927" y="7069645"/>
            <a:ext cx="13898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LOW → PASS</a:t>
            </a:r>
          </a:p>
        </p:txBody>
      </p:sp>
      <p:sp>
        <p:nvSpPr>
          <p:cNvPr id="53" name="Freeform 53"/>
          <p:cNvSpPr/>
          <p:nvPr/>
        </p:nvSpPr>
        <p:spPr>
          <a:xfrm>
            <a:off x="9392516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040216" y="6800088"/>
            <a:ext cx="2619375" cy="866775"/>
          </a:xfrm>
          <a:custGeom>
            <a:avLst/>
            <a:gdLst/>
            <a:ahLst/>
            <a:cxnLst/>
            <a:rect l="l" t="t" r="r" b="b"/>
            <a:pathLst>
              <a:path w="2619375" h="866775">
                <a:moveTo>
                  <a:pt x="0" y="0"/>
                </a:moveTo>
                <a:lnTo>
                  <a:pt x="2619375" y="0"/>
                </a:lnTo>
                <a:lnTo>
                  <a:pt x="2619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0288247" y="7069645"/>
            <a:ext cx="204825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→ REVIEW</a:t>
            </a:r>
          </a:p>
        </p:txBody>
      </p:sp>
      <p:sp>
        <p:nvSpPr>
          <p:cNvPr id="56" name="Freeform 56"/>
          <p:cNvSpPr/>
          <p:nvPr/>
        </p:nvSpPr>
        <p:spPr>
          <a:xfrm>
            <a:off x="12659591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3307291" y="6800088"/>
            <a:ext cx="2838450" cy="866775"/>
          </a:xfrm>
          <a:custGeom>
            <a:avLst/>
            <a:gdLst/>
            <a:ahLst/>
            <a:cxnLst/>
            <a:rect l="l" t="t" r="r" b="b"/>
            <a:pathLst>
              <a:path w="2838450" h="866775">
                <a:moveTo>
                  <a:pt x="0" y="0"/>
                </a:moveTo>
                <a:lnTo>
                  <a:pt x="2838450" y="0"/>
                </a:lnTo>
                <a:lnTo>
                  <a:pt x="2838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2790167" y="1874901"/>
            <a:ext cx="32918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90167" y="2921889"/>
            <a:ext cx="3291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21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90167" y="3945064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0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90167" y="4968240"/>
            <a:ext cx="43641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90167" y="5996940"/>
            <a:ext cx="32918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97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38494" y="258320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98882" y="300235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766942" y="6988683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74" name="Freeform 42">
            <a:extLst>
              <a:ext uri="{FF2B5EF4-FFF2-40B4-BE49-F238E27FC236}">
                <a16:creationId xmlns:a16="http://schemas.microsoft.com/office/drawing/2014/main" id="{7751515B-BD30-07C2-1FF7-624D44591E18}"/>
              </a:ext>
            </a:extLst>
          </p:cNvPr>
          <p:cNvSpPr/>
          <p:nvPr/>
        </p:nvSpPr>
        <p:spPr>
          <a:xfrm>
            <a:off x="2639291" y="6734654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94C493-3211-9152-A6FF-DBAEAAEEB5FD}"/>
              </a:ext>
            </a:extLst>
          </p:cNvPr>
          <p:cNvSpPr txBox="1"/>
          <p:nvPr/>
        </p:nvSpPr>
        <p:spPr>
          <a:xfrm>
            <a:off x="2713347" y="699630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8" name="Freeform 8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51176" y="475655"/>
            <a:ext cx="12605004" cy="939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48"/>
              </a:lnSpc>
            </a:pPr>
            <a:r>
              <a:rPr lang="en-US" sz="7148" b="1" dirty="0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 AND VIABILITY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" y="1866900"/>
            <a:ext cx="5019675" cy="857250"/>
          </a:xfrm>
          <a:custGeom>
            <a:avLst/>
            <a:gdLst/>
            <a:ahLst/>
            <a:cxnLst/>
            <a:rect l="l" t="t" r="r" b="b"/>
            <a:pathLst>
              <a:path w="5019675" h="857250">
                <a:moveTo>
                  <a:pt x="0" y="0"/>
                </a:moveTo>
                <a:lnTo>
                  <a:pt x="5019675" y="0"/>
                </a:lnTo>
                <a:lnTo>
                  <a:pt x="5019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072640" y="2159103"/>
            <a:ext cx="2596896" cy="33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CHALLENGES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0100" y="29337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578864" y="3336393"/>
            <a:ext cx="2340864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Low-quality images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0100" y="40100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78864" y="4390596"/>
            <a:ext cx="3346704" cy="25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818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Different document formats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" y="50768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78864" y="5449860"/>
            <a:ext cx="3035808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Sophisticated tampering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0100" y="5934075"/>
            <a:ext cx="5019675" cy="1295400"/>
          </a:xfrm>
          <a:custGeom>
            <a:avLst/>
            <a:gdLst/>
            <a:ahLst/>
            <a:cxnLst/>
            <a:rect l="l" t="t" r="r" b="b"/>
            <a:pathLst>
              <a:path w="5019675" h="1295400">
                <a:moveTo>
                  <a:pt x="0" y="0"/>
                </a:moveTo>
                <a:lnTo>
                  <a:pt x="5019675" y="0"/>
                </a:lnTo>
                <a:lnTo>
                  <a:pt x="501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78864" y="6509421"/>
            <a:ext cx="3182112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False positives / negatives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0100" y="70104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578864" y="7543776"/>
            <a:ext cx="3474720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Sensitive identity information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" y="80772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78864" y="8566523"/>
            <a:ext cx="2816352" cy="25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86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complexity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1517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687056" y="2183987"/>
            <a:ext cx="358444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MITIGATION ENGINE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15175" y="29337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8071104" y="3165247"/>
            <a:ext cx="2724912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preprocessing + quality assessment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7115175" y="40100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8107680" y="4234928"/>
            <a:ext cx="2340864" cy="53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Document-specific validation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7115175" y="50768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8107680" y="5243852"/>
            <a:ext cx="2487168" cy="59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207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forensic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7115175" y="5934075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8107680" y="6313384"/>
            <a:ext cx="2816352" cy="57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200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 calibration + human review</a:t>
            </a:r>
          </a:p>
        </p:txBody>
      </p:sp>
      <p:sp>
        <p:nvSpPr>
          <p:cNvPr id="42" name="Freeform 42"/>
          <p:cNvSpPr/>
          <p:nvPr/>
        </p:nvSpPr>
        <p:spPr>
          <a:xfrm>
            <a:off x="7115175" y="70104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8107680" y="7516183"/>
            <a:ext cx="2267712" cy="28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7"/>
              </a:lnSpc>
            </a:pPr>
            <a:r>
              <a:rPr lang="en-US" sz="1889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Encryption + RBAC</a:t>
            </a:r>
          </a:p>
        </p:txBody>
      </p:sp>
      <p:sp>
        <p:nvSpPr>
          <p:cNvPr id="44" name="Freeform 44"/>
          <p:cNvSpPr/>
          <p:nvPr/>
        </p:nvSpPr>
        <p:spPr>
          <a:xfrm>
            <a:off x="7115175" y="80772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8107680" y="8401330"/>
            <a:ext cx="2962656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deployment + API architecture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5810250" y="31527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5810250" y="421957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5810250" y="5295900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5810250" y="63627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5810250" y="74390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5810250" y="850582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2344400" y="1866900"/>
            <a:ext cx="219075" cy="7286625"/>
          </a:xfrm>
          <a:custGeom>
            <a:avLst/>
            <a:gdLst/>
            <a:ahLst/>
            <a:cxnLst/>
            <a:rect l="l" t="t" r="r" b="b"/>
            <a:pathLst>
              <a:path w="219075" h="7286625">
                <a:moveTo>
                  <a:pt x="0" y="0"/>
                </a:moveTo>
                <a:lnTo>
                  <a:pt x="219075" y="0"/>
                </a:lnTo>
                <a:lnTo>
                  <a:pt x="21907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277302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3429488" y="2174105"/>
            <a:ext cx="3547872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ROADMAP</a:t>
            </a:r>
          </a:p>
        </p:txBody>
      </p:sp>
      <p:sp>
        <p:nvSpPr>
          <p:cNvPr id="55" name="Freeform 55"/>
          <p:cNvSpPr/>
          <p:nvPr/>
        </p:nvSpPr>
        <p:spPr>
          <a:xfrm>
            <a:off x="12773025" y="2724150"/>
            <a:ext cx="4800600" cy="1285875"/>
          </a:xfrm>
          <a:custGeom>
            <a:avLst/>
            <a:gdLst/>
            <a:ahLst/>
            <a:cxnLst/>
            <a:rect l="l" t="t" r="r" b="b"/>
            <a:pathLst>
              <a:path w="4800600" h="1285875">
                <a:moveTo>
                  <a:pt x="0" y="0"/>
                </a:moveTo>
                <a:lnTo>
                  <a:pt x="4800600" y="0"/>
                </a:lnTo>
                <a:lnTo>
                  <a:pt x="4800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4325600" y="3305675"/>
            <a:ext cx="1737360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</a:t>
            </a:r>
          </a:p>
        </p:txBody>
      </p:sp>
      <p:sp>
        <p:nvSpPr>
          <p:cNvPr id="57" name="Freeform 57"/>
          <p:cNvSpPr/>
          <p:nvPr/>
        </p:nvSpPr>
        <p:spPr>
          <a:xfrm>
            <a:off x="14954250" y="3790950"/>
            <a:ext cx="438150" cy="866775"/>
          </a:xfrm>
          <a:custGeom>
            <a:avLst/>
            <a:gdLst/>
            <a:ahLst/>
            <a:cxnLst/>
            <a:rect l="l" t="t" r="r" b="b"/>
            <a:pathLst>
              <a:path w="438150" h="866775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2773025" y="4438650"/>
            <a:ext cx="4800600" cy="1504950"/>
          </a:xfrm>
          <a:custGeom>
            <a:avLst/>
            <a:gdLst/>
            <a:ahLst/>
            <a:cxnLst/>
            <a:rect l="l" t="t" r="r" b="b"/>
            <a:pathLst>
              <a:path w="4800600" h="1504950">
                <a:moveTo>
                  <a:pt x="0" y="0"/>
                </a:moveTo>
                <a:lnTo>
                  <a:pt x="4800600" y="0"/>
                </a:lnTo>
                <a:lnTo>
                  <a:pt x="4800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13758672" y="5050107"/>
            <a:ext cx="2852928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2343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PILOT</a:t>
            </a:r>
          </a:p>
        </p:txBody>
      </p:sp>
      <p:sp>
        <p:nvSpPr>
          <p:cNvPr id="60" name="Freeform 60"/>
          <p:cNvSpPr/>
          <p:nvPr/>
        </p:nvSpPr>
        <p:spPr>
          <a:xfrm>
            <a:off x="14954250" y="57245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2773025" y="63627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13904976" y="6823424"/>
            <a:ext cx="2596896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FIELD VALIDATION</a:t>
            </a:r>
          </a:p>
        </p:txBody>
      </p:sp>
      <p:sp>
        <p:nvSpPr>
          <p:cNvPr id="63" name="Freeform 63"/>
          <p:cNvSpPr/>
          <p:nvPr/>
        </p:nvSpPr>
        <p:spPr>
          <a:xfrm>
            <a:off x="14954250" y="7439025"/>
            <a:ext cx="438150" cy="857250"/>
          </a:xfrm>
          <a:custGeom>
            <a:avLst/>
            <a:gdLst/>
            <a:ahLst/>
            <a:cxnLst/>
            <a:rect l="l" t="t" r="r" b="b"/>
            <a:pathLst>
              <a:path w="438150" h="8572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12773025" y="80772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65" name="TextBox 65"/>
          <p:cNvSpPr txBox="1"/>
          <p:nvPr/>
        </p:nvSpPr>
        <p:spPr>
          <a:xfrm>
            <a:off x="14453616" y="8582501"/>
            <a:ext cx="148132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SCALE-UP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7" name="Freeform 67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3" name="Freeform 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74161" y="371475"/>
            <a:ext cx="925372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5978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AND BENEFITS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0100" y="1647825"/>
            <a:ext cx="5238750" cy="3867150"/>
          </a:xfrm>
          <a:custGeom>
            <a:avLst/>
            <a:gdLst/>
            <a:ahLst/>
            <a:cxnLst/>
            <a:rect l="l" t="t" r="r" b="b"/>
            <a:pathLst>
              <a:path w="5238750" h="3867150">
                <a:moveTo>
                  <a:pt x="0" y="0"/>
                </a:moveTo>
                <a:lnTo>
                  <a:pt x="5238750" y="0"/>
                </a:lnTo>
                <a:lnTo>
                  <a:pt x="5238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00100" y="1647825"/>
            <a:ext cx="5238750" cy="866775"/>
          </a:xfrm>
          <a:custGeom>
            <a:avLst/>
            <a:gdLst/>
            <a:ahLst/>
            <a:cxnLst/>
            <a:rect l="l" t="t" r="r" b="b"/>
            <a:pathLst>
              <a:path w="5238750" h="866775">
                <a:moveTo>
                  <a:pt x="0" y="0"/>
                </a:moveTo>
                <a:lnTo>
                  <a:pt x="5238750" y="0"/>
                </a:lnTo>
                <a:lnTo>
                  <a:pt x="5238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46707" y="1969169"/>
            <a:ext cx="3700272" cy="301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</a:t>
            </a:r>
            <a:r>
              <a:rPr lang="en-US" sz="198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PramaanSetu</a:t>
            </a:r>
            <a:r>
              <a:rPr lang="en-US" sz="198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INDIA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38250" y="2295525"/>
            <a:ext cx="4581525" cy="3000375"/>
          </a:xfrm>
          <a:custGeom>
            <a:avLst/>
            <a:gdLst/>
            <a:ahLst/>
            <a:cxnLst/>
            <a:rect l="l" t="t" r="r" b="b"/>
            <a:pathLst>
              <a:path w="4581525" h="3000375">
                <a:moveTo>
                  <a:pt x="0" y="0"/>
                </a:moveTo>
                <a:lnTo>
                  <a:pt x="4581525" y="0"/>
                </a:lnTo>
                <a:lnTo>
                  <a:pt x="45815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83536" y="2611374"/>
            <a:ext cx="16276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Manual checks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83536" y="3153347"/>
            <a:ext cx="16276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Slow screening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3536" y="3742944"/>
            <a:ext cx="197510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Reviewer variation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3536" y="4308729"/>
            <a:ext cx="232257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Repetitive verification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83536" y="4869752"/>
            <a:ext cx="202996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Limited traceability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96100" y="2295525"/>
            <a:ext cx="4362450" cy="3000375"/>
          </a:xfrm>
          <a:custGeom>
            <a:avLst/>
            <a:gdLst/>
            <a:ahLst/>
            <a:cxnLst/>
            <a:rect l="l" t="t" r="r" b="b"/>
            <a:pathLst>
              <a:path w="4362450" h="3000375">
                <a:moveTo>
                  <a:pt x="0" y="0"/>
                </a:moveTo>
                <a:lnTo>
                  <a:pt x="4362450" y="0"/>
                </a:lnTo>
                <a:lnTo>
                  <a:pt x="4362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540752" y="2872169"/>
            <a:ext cx="3182112" cy="46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PramaanSetu</a:t>
            </a:r>
            <a:endParaRPr lang="en-US" sz="2962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49312" y="3568937"/>
            <a:ext cx="3328416" cy="99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1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Multi-Layer AI Platform for Document Authenticity and Risk Assessment</a:t>
            </a:r>
          </a:p>
        </p:txBody>
      </p:sp>
      <p:sp>
        <p:nvSpPr>
          <p:cNvPr id="25" name="Freeform 25"/>
          <p:cNvSpPr/>
          <p:nvPr/>
        </p:nvSpPr>
        <p:spPr>
          <a:xfrm>
            <a:off x="6029325" y="336232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125325" y="1647825"/>
            <a:ext cx="5010150" cy="3867150"/>
          </a:xfrm>
          <a:custGeom>
            <a:avLst/>
            <a:gdLst/>
            <a:ahLst/>
            <a:cxnLst/>
            <a:rect l="l" t="t" r="r" b="b"/>
            <a:pathLst>
              <a:path w="5010150" h="3867150">
                <a:moveTo>
                  <a:pt x="0" y="0"/>
                </a:moveTo>
                <a:lnTo>
                  <a:pt x="5010150" y="0"/>
                </a:lnTo>
                <a:lnTo>
                  <a:pt x="50101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125325" y="1647825"/>
            <a:ext cx="5010150" cy="866775"/>
          </a:xfrm>
          <a:custGeom>
            <a:avLst/>
            <a:gdLst/>
            <a:ahLst/>
            <a:cxnLst/>
            <a:rect l="l" t="t" r="r" b="b"/>
            <a:pathLst>
              <a:path w="5010150" h="866775">
                <a:moveTo>
                  <a:pt x="0" y="0"/>
                </a:moveTo>
                <a:lnTo>
                  <a:pt x="5010150" y="0"/>
                </a:lnTo>
                <a:lnTo>
                  <a:pt x="5010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973812" y="1996827"/>
            <a:ext cx="3471672" cy="301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AFTER </a:t>
            </a:r>
            <a:r>
              <a:rPr lang="en-US" sz="198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PramaanSetu</a:t>
            </a:r>
            <a:r>
              <a:rPr lang="en-US" sz="198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INDIA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344400" y="2295525"/>
            <a:ext cx="4572000" cy="3000375"/>
          </a:xfrm>
          <a:custGeom>
            <a:avLst/>
            <a:gdLst/>
            <a:ahLst/>
            <a:cxnLst/>
            <a:rect l="l" t="t" r="r" b="b"/>
            <a:pathLst>
              <a:path w="4572000" h="3000375">
                <a:moveTo>
                  <a:pt x="0" y="0"/>
                </a:moveTo>
                <a:lnTo>
                  <a:pt x="4572000" y="0"/>
                </a:lnTo>
                <a:lnTo>
                  <a:pt x="45720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899136" y="2611374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Faster first-level screening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99136" y="3153347"/>
            <a:ext cx="241401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Structured verification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99136" y="3738181"/>
            <a:ext cx="25420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Risk-based prioritization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99136" y="4303967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Human-in-the-loop review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99136" y="4874514"/>
            <a:ext cx="18105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 audit trail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249025" y="336232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81025" y="5934075"/>
            <a:ext cx="3276600" cy="1933575"/>
          </a:xfrm>
          <a:custGeom>
            <a:avLst/>
            <a:gdLst/>
            <a:ahLst/>
            <a:cxnLst/>
            <a:rect l="l" t="t" r="r" b="b"/>
            <a:pathLst>
              <a:path w="3276600" h="1933575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341120" y="6670381"/>
            <a:ext cx="1865376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Analyzes document across multiple layers</a:t>
            </a:r>
          </a:p>
        </p:txBody>
      </p:sp>
      <p:sp>
        <p:nvSpPr>
          <p:cNvPr id="38" name="Freeform 38"/>
          <p:cNvSpPr/>
          <p:nvPr/>
        </p:nvSpPr>
        <p:spPr>
          <a:xfrm>
            <a:off x="4724400" y="5934075"/>
            <a:ext cx="3048000" cy="1933575"/>
          </a:xfrm>
          <a:custGeom>
            <a:avLst/>
            <a:gdLst/>
            <a:ahLst/>
            <a:cxnLst/>
            <a:rect l="l" t="t" r="r" b="b"/>
            <a:pathLst>
              <a:path w="3048000" h="1933575">
                <a:moveTo>
                  <a:pt x="0" y="0"/>
                </a:moveTo>
                <a:lnTo>
                  <a:pt x="3048000" y="0"/>
                </a:lnTo>
                <a:lnTo>
                  <a:pt x="3048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309616" y="6254496"/>
            <a:ext cx="192024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RISK + EVIDENCE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73040" y="6670381"/>
            <a:ext cx="1975104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Generates risk score and explainable evidence</a:t>
            </a:r>
          </a:p>
        </p:txBody>
      </p:sp>
      <p:sp>
        <p:nvSpPr>
          <p:cNvPr id="41" name="Freeform 41"/>
          <p:cNvSpPr/>
          <p:nvPr/>
        </p:nvSpPr>
        <p:spPr>
          <a:xfrm>
            <a:off x="8201025" y="5934075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8201025" y="6581775"/>
            <a:ext cx="1752600" cy="857250"/>
          </a:xfrm>
          <a:custGeom>
            <a:avLst/>
            <a:gdLst/>
            <a:ahLst/>
            <a:cxnLst/>
            <a:rect l="l" t="t" r="r" b="b"/>
            <a:pathLst>
              <a:path w="1752600" h="857250">
                <a:moveTo>
                  <a:pt x="0" y="0"/>
                </a:moveTo>
                <a:lnTo>
                  <a:pt x="1752600" y="0"/>
                </a:lnTo>
                <a:lnTo>
                  <a:pt x="1752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01025" y="7219950"/>
            <a:ext cx="1752600" cy="866775"/>
          </a:xfrm>
          <a:custGeom>
            <a:avLst/>
            <a:gdLst/>
            <a:ahLst/>
            <a:cxnLst/>
            <a:rect l="l" t="t" r="r" b="b"/>
            <a:pathLst>
              <a:path w="1752600" h="866775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3848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0601325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1490960" y="6268783"/>
            <a:ext cx="1463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AUTHORIZED PERSONNEL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81232" y="6948309"/>
            <a:ext cx="1572768" cy="51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485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Reviews insights and evidence</a:t>
            </a:r>
          </a:p>
        </p:txBody>
      </p:sp>
      <p:sp>
        <p:nvSpPr>
          <p:cNvPr id="48" name="Freeform 48"/>
          <p:cNvSpPr/>
          <p:nvPr/>
        </p:nvSpPr>
        <p:spPr>
          <a:xfrm>
            <a:off x="9944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4516100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5240000" y="6254496"/>
            <a:ext cx="177393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DECISION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240000" y="6670381"/>
            <a:ext cx="1810512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Approve, escalate, or reject with rationale logged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649325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581025" y="807720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7165848" y="8296084"/>
            <a:ext cx="396849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224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ECOSYSTEM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52016" y="6254496"/>
            <a:ext cx="122529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 SYSTEM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10016" y="6833723"/>
            <a:ext cx="1280160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RISK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74608" y="6144494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RISK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74608" y="7533239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RISK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70304" y="9166860"/>
            <a:ext cx="131673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AIRPORTS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42688" y="9166860"/>
            <a:ext cx="204825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LAND BORDERS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10016" y="9166860"/>
            <a:ext cx="138988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SEAPORTS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710416" y="9166860"/>
            <a:ext cx="17922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IMMIGRATION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038832" y="9029509"/>
            <a:ext cx="19751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00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INVESTIGATION SUPPORT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5" name="Freeform 6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653796" y="859155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grpSp>
        <p:nvGrpSpPr>
          <p:cNvPr id="67" name="Group 67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2304" y="304800"/>
            <a:ext cx="121432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AND REFERENCES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57237" y="15571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6312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36001" y="2023505"/>
            <a:ext cx="29260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3281" y="2000295"/>
            <a:ext cx="4498848" cy="42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40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Smart India Hackathon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3281" y="2525429"/>
            <a:ext cx="3511296" cy="77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26188, official portal</a:t>
            </a:r>
          </a:p>
        </p:txBody>
      </p:sp>
      <p:sp>
        <p:nvSpPr>
          <p:cNvPr id="16" name="Freeform 16"/>
          <p:cNvSpPr/>
          <p:nvPr/>
        </p:nvSpPr>
        <p:spPr>
          <a:xfrm>
            <a:off x="757237" y="3700272"/>
            <a:ext cx="8286750" cy="2152650"/>
          </a:xfrm>
          <a:custGeom>
            <a:avLst/>
            <a:gdLst/>
            <a:ahLst/>
            <a:cxnLst/>
            <a:rect l="l" t="t" r="r" b="b"/>
            <a:pathLst>
              <a:path w="8286750" h="2152650">
                <a:moveTo>
                  <a:pt x="0" y="0"/>
                </a:moveTo>
                <a:lnTo>
                  <a:pt x="8286750" y="0"/>
                </a:lnTo>
                <a:lnTo>
                  <a:pt x="8286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76312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44561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33281" y="3930801"/>
            <a:ext cx="4005072" cy="85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Ministry of Home Affairs, Government of India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33281" y="4878645"/>
            <a:ext cx="3547872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official identity/document verification resources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7237" y="56338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76312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44561" y="60868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33281" y="6062430"/>
            <a:ext cx="2432304" cy="45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ICAO Doc 9303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33281" y="6604355"/>
            <a:ext cx="5193792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Readable Travel Documents, International Civil Aviation Organization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757237" y="7776972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76312" y="7986522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44561" y="8103122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33281" y="8028837"/>
            <a:ext cx="3822192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OpenCV Documentation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33281" y="8540817"/>
            <a:ext cx="3127248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open-source computer vision library</a:t>
            </a:r>
          </a:p>
        </p:txBody>
      </p:sp>
      <p:sp>
        <p:nvSpPr>
          <p:cNvPr id="31" name="Freeform 31"/>
          <p:cNvSpPr/>
          <p:nvPr/>
        </p:nvSpPr>
        <p:spPr>
          <a:xfrm>
            <a:off x="9253537" y="15571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463087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893617" y="2023505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45761" y="2006203"/>
            <a:ext cx="4352544" cy="123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34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 document image tampering and forgery detection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53537" y="3700272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463087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9893617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5761" y="4031623"/>
            <a:ext cx="4681728" cy="122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</a:t>
            </a:r>
          </a:p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face verification and face presentation-attack detection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9253537" y="56338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463087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9930193" y="6086870"/>
            <a:ext cx="38404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45761" y="6065987"/>
            <a:ext cx="1207008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OWASP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45761" y="6586615"/>
            <a:ext cx="4023360" cy="7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Authentication, Authorization, and Security Practices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5" name="Freeform 4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202" b="-202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452</Words>
  <Application>Microsoft Office PowerPoint</Application>
  <PresentationFormat>Custom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Poppins</vt:lpstr>
      <vt:lpstr>Arial</vt:lpstr>
      <vt:lpstr>Calibri</vt:lpstr>
      <vt:lpstr>Times New Roman Bold</vt:lpstr>
      <vt:lpstr>Poppins Bold</vt:lpstr>
      <vt:lpstr>Times New Roman</vt:lpstr>
      <vt:lpstr>Poppins Semi-Bold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DOCAuth_INDIA_SIH2026 better (1).pptx</dc:title>
  <cp:lastModifiedBy>DEV</cp:lastModifiedBy>
  <cp:revision>4</cp:revision>
  <dcterms:created xsi:type="dcterms:W3CDTF">2006-08-16T00:00:00Z</dcterms:created>
  <dcterms:modified xsi:type="dcterms:W3CDTF">2026-09-12T03:33:51Z</dcterms:modified>
  <dc:identifier>DAHU57L8OVc</dc:identifier>
</cp:coreProperties>
</file>