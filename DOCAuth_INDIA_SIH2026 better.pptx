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02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200" dirty="0"/>
          </a:p>
        </p:txBody>
      </p:sp>
      <p:pic>
        <p:nvPicPr>
          <p:cNvPr id="3" name="Image 0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64592"/>
            <a:ext cx="1828800" cy="859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23444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49808" y="123444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Problem Statement ID - SIH1822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457200" y="183794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183794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Problem Statement Title- Indian Document Authenticity &amp; Multi-Layer Verification Platform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457200" y="2441448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432117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dirty="0"/>
              <a:t>Theme-</a:t>
            </a:r>
            <a:r>
              <a:rPr lang="en-US" dirty="0"/>
              <a:t> </a:t>
            </a:r>
            <a:r>
              <a:rPr lang="en-IN" dirty="0"/>
              <a:t>Blockchain &amp; Cybersecurity</a:t>
            </a:r>
            <a:endParaRPr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4495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04495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PS Category- Software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457200" y="3648456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64845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dirty="0"/>
              <a:t>Team ID-</a:t>
            </a:r>
          </a:p>
        </p:txBody>
      </p:sp>
      <p:sp>
        <p:nvSpPr>
          <p:cNvPr id="14" name="Text 11"/>
          <p:cNvSpPr txBox="1"/>
          <p:nvPr/>
        </p:nvSpPr>
        <p:spPr>
          <a:xfrm>
            <a:off x="457200" y="425196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425196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Team Name - Syntax Squad</a:t>
            </a:r>
          </a:p>
        </p:txBody>
      </p:sp>
      <p:sp>
        <p:nvSpPr>
          <p:cNvPr id="16" name="Text 13"/>
          <p:cNvSpPr txBox="1"/>
          <p:nvPr/>
        </p:nvSpPr>
        <p:spPr>
          <a:xfrm>
            <a:off x="457200" y="485546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485546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Idea Title- DOCAuth INDIA - Multi-Layer Document Authenticity Platform</a:t>
            </a:r>
          </a:p>
        </p:txBody>
      </p:sp>
      <p:pic>
        <p:nvPicPr>
          <p:cNvPr id="18" name="Image 1" descr="brain_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371600"/>
            <a:ext cx="429768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128016" y="16459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/>
              <a:t>Syntax Squad</a:t>
            </a:r>
            <a:endParaRPr dirty="0"/>
          </a:p>
        </p:txBody>
      </p:sp>
      <p:pic>
        <p:nvPicPr>
          <p:cNvPr id="4" name="Image 0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28016"/>
            <a:ext cx="1783080" cy="8366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TITLE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274320" y="65471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597335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82296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❖ Proposed Solution</a:t>
            </a:r>
            <a:r>
              <a:rPr lang="en-US" sz="1300" i="1" dirty="0">
                <a:solidFill>
                  <a:srgbClr val="1F4E79"/>
                </a:solidFill>
              </a:rPr>
              <a:t>  (Describe your Idea/Solution/Prototype)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298448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DOCAuth INDIA is an AI-powered decision-support platform that screens identity documents for forgery, tampering, and identity mismatch.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combines multiple verification signals — OCR, document validation, tampering analysis, MRZ/field consistency, and face verification — instead of relying on OCR alone.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document receives an explainable, multi-signal risk score (Low / Medium / High) that is reviewed by authorized personnel before any decision is finalized.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6974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Solution Addresses the Problem: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044952"/>
            <a:ext cx="5440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Replaces slow, inconsistent manual document checks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flags suspicious or tampered documents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Applies consistent, structured screening criteria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human review with explainable evidence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Creates a traceable, auditable verification record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6974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and Uniqueness of the Solution: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44952"/>
            <a:ext cx="5440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Multi-signal verification — not OCR alone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Tampering-aware forensic image analysis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consistency checks (MRZ + face)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AI-based risk scoring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Secure, permissioned blockchain audit trail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Process Flow: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2268" y="4709160"/>
            <a:ext cx="2514600" cy="566928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31226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872588" y="4992624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329788" y="4709160"/>
            <a:ext cx="2514600" cy="566928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332978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90108" y="4992624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6347308" y="4709160"/>
            <a:ext cx="2514600" cy="566928"/>
          </a:xfrm>
          <a:prstGeom prst="rect">
            <a:avLst/>
          </a:prstGeom>
          <a:solidFill>
            <a:srgbClr val="FFE69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634730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907628" y="4992624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9364828" y="4709160"/>
            <a:ext cx="2514600" cy="566928"/>
          </a:xfrm>
          <a:prstGeom prst="rect">
            <a:avLst/>
          </a:prstGeom>
          <a:solidFill>
            <a:srgbClr val="C6E0B4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936482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128016" y="16459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dirty="0"/>
              <a:t>Syntax Squad</a:t>
            </a:r>
          </a:p>
        </p:txBody>
      </p:sp>
      <p:pic>
        <p:nvPicPr>
          <p:cNvPr id="4" name="Image 0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28016"/>
            <a:ext cx="1783080" cy="8366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274320" y="65471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597335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851392" y="896112"/>
            <a:ext cx="0" cy="55321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20040" y="896112"/>
            <a:ext cx="8366760" cy="384048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320040" y="896112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ID CAPTURE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03420" y="1280160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20040" y="1371600"/>
            <a:ext cx="8366760" cy="384048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320040" y="1371600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CHECK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03420" y="1755648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320040" y="1847088"/>
            <a:ext cx="8366760" cy="384048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320040" y="1847088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FIELD EXTRACTION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03420" y="2231136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20040" y="2322576"/>
            <a:ext cx="4091940" cy="457200"/>
          </a:xfrm>
          <a:prstGeom prst="rect">
            <a:avLst/>
          </a:prstGeom>
          <a:solidFill>
            <a:srgbClr val="FFE69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320040" y="2322576"/>
            <a:ext cx="40919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VALIDATION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94860" y="2322576"/>
            <a:ext cx="4091940" cy="457200"/>
          </a:xfrm>
          <a:prstGeom prst="rect">
            <a:avLst/>
          </a:prstGeom>
          <a:solidFill>
            <a:srgbClr val="F8CBAD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4594860" y="2322576"/>
            <a:ext cx="40919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/ FORGERY ANALYSIS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03420" y="2779776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320040" y="2871216"/>
            <a:ext cx="8366760" cy="384048"/>
          </a:xfrm>
          <a:prstGeom prst="rect">
            <a:avLst/>
          </a:prstGeom>
          <a:solidFill>
            <a:srgbClr val="C6E0B4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320040" y="2871216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/ FIELD CONSISTENCY CHECK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03420" y="3255264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320040" y="3346704"/>
            <a:ext cx="8366760" cy="384048"/>
          </a:xfrm>
          <a:prstGeom prst="rect">
            <a:avLst/>
          </a:prstGeom>
          <a:solidFill>
            <a:srgbClr val="C6E0B4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 txBox="1"/>
          <p:nvPr/>
        </p:nvSpPr>
        <p:spPr>
          <a:xfrm>
            <a:off x="320040" y="3346704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03420" y="3730752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320040" y="3822192"/>
            <a:ext cx="8366760" cy="457200"/>
          </a:xfrm>
          <a:prstGeom prst="rect">
            <a:avLst/>
          </a:prstGeom>
          <a:solidFill>
            <a:srgbClr val="D9D2E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320040" y="3822192"/>
            <a:ext cx="8366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ENGINE — MULTI-SIGNAL SCORING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03420" y="4279392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320040" y="4370832"/>
            <a:ext cx="8366760" cy="384048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 txBox="1"/>
          <p:nvPr/>
        </p:nvSpPr>
        <p:spPr>
          <a:xfrm>
            <a:off x="320040" y="4370832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503420" y="4754880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320040" y="4846320"/>
            <a:ext cx="2697480" cy="502920"/>
          </a:xfrm>
          <a:prstGeom prst="rect">
            <a:avLst/>
          </a:prstGeom>
          <a:solidFill>
            <a:srgbClr val="C6E0B4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 txBox="1"/>
          <p:nvPr/>
        </p:nvSpPr>
        <p:spPr>
          <a:xfrm>
            <a:off x="320040" y="4846320"/>
            <a:ext cx="2697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154680" y="4846320"/>
            <a:ext cx="2697480" cy="502920"/>
          </a:xfrm>
          <a:prstGeom prst="rect">
            <a:avLst/>
          </a:prstGeom>
          <a:solidFill>
            <a:srgbClr val="FFE69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 txBox="1"/>
          <p:nvPr/>
        </p:nvSpPr>
        <p:spPr>
          <a:xfrm>
            <a:off x="3154680" y="4846320"/>
            <a:ext cx="2697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989320" y="4846320"/>
            <a:ext cx="2697480" cy="502920"/>
          </a:xfrm>
          <a:prstGeom prst="rect">
            <a:avLst/>
          </a:prstGeom>
          <a:solidFill>
            <a:srgbClr val="F8CBAD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 txBox="1"/>
          <p:nvPr/>
        </p:nvSpPr>
        <p:spPr>
          <a:xfrm>
            <a:off x="5989320" y="4846320"/>
            <a:ext cx="2697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503420" y="5349240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20040" y="5440680"/>
            <a:ext cx="8366760" cy="384048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 txBox="1"/>
          <p:nvPr/>
        </p:nvSpPr>
        <p:spPr>
          <a:xfrm>
            <a:off x="320040" y="5440680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AUDIT TRAIL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03420" y="5824728"/>
            <a:ext cx="0" cy="9144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" name="Shape 43"/>
          <p:cNvSpPr/>
          <p:nvPr/>
        </p:nvSpPr>
        <p:spPr>
          <a:xfrm>
            <a:off x="320040" y="5916168"/>
            <a:ext cx="8366760" cy="384048"/>
          </a:xfrm>
          <a:prstGeom prst="rect">
            <a:avLst/>
          </a:prstGeom>
          <a:solidFill>
            <a:srgbClr val="D9D2E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4"/>
          <p:cNvSpPr txBox="1"/>
          <p:nvPr/>
        </p:nvSpPr>
        <p:spPr>
          <a:xfrm>
            <a:off x="320040" y="5916168"/>
            <a:ext cx="8366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LEDGER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9052560" y="896112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9052560" y="1188720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1E3C6E"/>
                </a:solidFill>
              </a:defRPr>
            </a:pPr>
            <a:r>
              <a:rPr dirty="0"/>
              <a:t>AI / Computer Vision Engine</a:t>
            </a:r>
          </a:p>
        </p:txBody>
      </p:sp>
      <p:sp>
        <p:nvSpPr>
          <p:cNvPr id="50" name="Text 47"/>
          <p:cNvSpPr txBox="1"/>
          <p:nvPr/>
        </p:nvSpPr>
        <p:spPr>
          <a:xfrm>
            <a:off x="9052559" y="1413961"/>
            <a:ext cx="2910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Tesseract.js OCR with sliding window character normalization</a:t>
            </a:r>
          </a:p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Verhoeff Checksum (Aadhaar) &amp; ICAO MRZ Parser (Passport)</a:t>
            </a:r>
          </a:p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jsQR</a:t>
            </a:r>
            <a:r>
              <a:rPr dirty="0"/>
              <a:t> matrix scanner &amp; Error Level Analysis (ELA) forensic audit</a:t>
            </a:r>
          </a:p>
        </p:txBody>
      </p:sp>
      <p:sp>
        <p:nvSpPr>
          <p:cNvPr id="51" name="Text 48"/>
          <p:cNvSpPr txBox="1"/>
          <p:nvPr/>
        </p:nvSpPr>
        <p:spPr>
          <a:xfrm>
            <a:off x="9052560" y="2333679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1E3C6E"/>
                </a:solidFill>
              </a:defRPr>
            </a:pPr>
            <a:r>
              <a:rPr dirty="0"/>
              <a:t>Backend Architecture</a:t>
            </a:r>
          </a:p>
        </p:txBody>
      </p:sp>
      <p:sp>
        <p:nvSpPr>
          <p:cNvPr id="52" name="Text 49"/>
          <p:cNvSpPr txBox="1"/>
          <p:nvPr/>
        </p:nvSpPr>
        <p:spPr>
          <a:xfrm>
            <a:off x="9052560" y="2551176"/>
            <a:ext cx="2910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Node.js &amp; Express.js REST API microservices</a:t>
            </a:r>
          </a:p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Multer upload middleware &amp; weighted risk engine (0-100 score)</a:t>
            </a:r>
          </a:p>
        </p:txBody>
      </p:sp>
      <p:sp>
        <p:nvSpPr>
          <p:cNvPr id="53" name="Text 50"/>
          <p:cNvSpPr txBox="1"/>
          <p:nvPr/>
        </p:nvSpPr>
        <p:spPr>
          <a:xfrm>
            <a:off x="9052560" y="2999232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1E3C6E"/>
                </a:solidFill>
              </a:defRPr>
            </a:pPr>
            <a:r>
              <a:rPr dirty="0"/>
              <a:t>Frontend Web Application</a:t>
            </a:r>
          </a:p>
        </p:txBody>
      </p:sp>
      <p:sp>
        <p:nvSpPr>
          <p:cNvPr id="54" name="Text 51"/>
          <p:cNvSpPr txBox="1"/>
          <p:nvPr/>
        </p:nvSpPr>
        <p:spPr>
          <a:xfrm>
            <a:off x="9052560" y="3233057"/>
            <a:ext cx="2910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React.js 18 SPA (Vite) with </a:t>
            </a:r>
            <a:r>
              <a:rPr dirty="0" err="1"/>
              <a:t>Glassmorphism</a:t>
            </a:r>
            <a:r>
              <a:rPr dirty="0"/>
              <a:t> CSS design system</a:t>
            </a:r>
          </a:p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HTML5 Live Camera Scanner with Laplacian clarity auto-capture</a:t>
            </a:r>
          </a:p>
        </p:txBody>
      </p:sp>
      <p:sp>
        <p:nvSpPr>
          <p:cNvPr id="55" name="Text 52"/>
          <p:cNvSpPr txBox="1"/>
          <p:nvPr/>
        </p:nvSpPr>
        <p:spPr>
          <a:xfrm>
            <a:off x="9052560" y="3845612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1E3C6E"/>
                </a:solidFill>
              </a:defRPr>
            </a:pPr>
            <a:r>
              <a:t>Data &amp; Persistence Layer</a:t>
            </a:r>
          </a:p>
        </p:txBody>
      </p:sp>
      <p:sp>
        <p:nvSpPr>
          <p:cNvPr id="56" name="Text 53"/>
          <p:cNvSpPr txBox="1"/>
          <p:nvPr/>
        </p:nvSpPr>
        <p:spPr>
          <a:xfrm>
            <a:off x="9052560" y="4078224"/>
            <a:ext cx="2910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MongoDB (Mongoose Schema) for verification audit history</a:t>
            </a:r>
          </a:p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Automated in-memory fallback store ensuring 100% uptime</a:t>
            </a:r>
          </a:p>
        </p:txBody>
      </p:sp>
      <p:sp>
        <p:nvSpPr>
          <p:cNvPr id="57" name="Text 54"/>
          <p:cNvSpPr txBox="1"/>
          <p:nvPr/>
        </p:nvSpPr>
        <p:spPr>
          <a:xfrm>
            <a:off x="9052560" y="4713732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1E3C6E"/>
                </a:solidFill>
              </a:defRPr>
            </a:pPr>
            <a:r>
              <a:rPr dirty="0"/>
              <a:t>Security &amp; Access Control</a:t>
            </a:r>
          </a:p>
        </p:txBody>
      </p:sp>
      <p:sp>
        <p:nvSpPr>
          <p:cNvPr id="58" name="Text 55"/>
          <p:cNvSpPr txBox="1"/>
          <p:nvPr/>
        </p:nvSpPr>
        <p:spPr>
          <a:xfrm>
            <a:off x="9052560" y="4963979"/>
            <a:ext cx="2910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JWT Authentication, RBAC, &amp; encrypted payload transport</a:t>
            </a:r>
          </a:p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Privacy-by-design: zero raw photo persistence in database</a:t>
            </a:r>
          </a:p>
        </p:txBody>
      </p:sp>
      <p:sp>
        <p:nvSpPr>
          <p:cNvPr id="59" name="Text 56"/>
          <p:cNvSpPr txBox="1"/>
          <p:nvPr/>
        </p:nvSpPr>
        <p:spPr>
          <a:xfrm>
            <a:off x="9052560" y="5600700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1E3C6E"/>
                </a:solidFill>
              </a:defRPr>
            </a:pPr>
            <a:r>
              <a:rPr dirty="0"/>
              <a:t>Trust &amp; Auditability</a:t>
            </a:r>
          </a:p>
        </p:txBody>
      </p:sp>
      <p:sp>
        <p:nvSpPr>
          <p:cNvPr id="60" name="Text 57"/>
          <p:cNvSpPr txBox="1"/>
          <p:nvPr/>
        </p:nvSpPr>
        <p:spPr>
          <a:xfrm>
            <a:off x="9052560" y="5801868"/>
            <a:ext cx="2910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Cryptographic JSON Audit Certificates for every scan</a:t>
            </a:r>
          </a:p>
          <a:p>
            <a:pPr>
              <a:defRPr sz="1050" b="0">
                <a:solidFill>
                  <a:srgbClr val="282828"/>
                </a:solidFill>
              </a:defRPr>
            </a:pPr>
            <a:r>
              <a:rPr dirty="0"/>
              <a:t>• Immutable verification decision logs &amp; exportable certificates</a:t>
            </a:r>
          </a:p>
        </p:txBody>
      </p:sp>
      <p:sp>
        <p:nvSpPr>
          <p:cNvPr id="61" name="Text 58"/>
          <p:cNvSpPr txBox="1"/>
          <p:nvPr/>
        </p:nvSpPr>
        <p:spPr>
          <a:xfrm>
            <a:off x="9052560" y="6894576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All 6 stack layers 100% active &amp; verified in project codebase.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128016" y="16459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dirty="0"/>
              <a:t>Syntax Squad</a:t>
            </a:r>
          </a:p>
        </p:txBody>
      </p:sp>
      <p:pic>
        <p:nvPicPr>
          <p:cNvPr id="4" name="Image 0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28016"/>
            <a:ext cx="1783080" cy="8366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274320" y="65471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597335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11567160" cy="46177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Feasibility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80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Challenges and Risks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80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Strategies for Overcoming These Challenges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8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Technical Feasibility
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Mature OCR / computer vision technologies
• Modular verification pipeline
• API-based architecture
• Cloud or controlled on-premise deployment
• Permissioned ledger architecture
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Operational Feasibility
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Human-in-the-loop workflow
• Structured screening process
• Compatible with existing verification workflows
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Scalability
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Modular services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Document-type expansion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Controlled deployment roadmap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101600" marB="1016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Low-quality images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Different document formats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Sophisticated tampering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False positives / false negatives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Lighting and camera variation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Sensitive identity information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Model generalization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Integration complexity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101600" marB="1016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Image preprocessing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Quality assessment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Document-specific validation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Multi-signal verification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Threshold calibration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Human review for uncertain cases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Encryption and RBAC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Continuous model evaluation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spcAft>
                          <a:spcPts val="6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Controlled deployment and testing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101600" marB="1016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320040" y="5650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Roadmap: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880360" y="5650992"/>
            <a:ext cx="1874520" cy="365760"/>
          </a:xfrm>
          <a:prstGeom prst="rect">
            <a:avLst/>
          </a:prstGeom>
          <a:solidFill>
            <a:srgbClr val="BDD7EE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2880360" y="5650992"/>
            <a:ext cx="1874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Prototype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91456" y="5833872"/>
            <a:ext cx="310896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5138928" y="5650992"/>
            <a:ext cx="1874520" cy="365760"/>
          </a:xfrm>
          <a:prstGeom prst="rect">
            <a:avLst/>
          </a:prstGeom>
          <a:solidFill>
            <a:srgbClr val="D9E2F3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5138928" y="5650992"/>
            <a:ext cx="1874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Controlled Pilot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050024" y="5833872"/>
            <a:ext cx="310896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7397496" y="5650992"/>
            <a:ext cx="1874520" cy="365760"/>
          </a:xfrm>
          <a:prstGeom prst="rect">
            <a:avLst/>
          </a:prstGeom>
          <a:solidFill>
            <a:srgbClr val="D9E2F3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 txBox="1"/>
          <p:nvPr/>
        </p:nvSpPr>
        <p:spPr>
          <a:xfrm>
            <a:off x="7397496" y="5650992"/>
            <a:ext cx="1874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Field Validation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308592" y="5833872"/>
            <a:ext cx="310896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9656064" y="5650992"/>
            <a:ext cx="1874520" cy="365760"/>
          </a:xfrm>
          <a:prstGeom prst="rect">
            <a:avLst/>
          </a:prstGeom>
          <a:solidFill>
            <a:srgbClr val="D9E2F3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 txBox="1"/>
          <p:nvPr/>
        </p:nvSpPr>
        <p:spPr>
          <a:xfrm>
            <a:off x="9656064" y="5650992"/>
            <a:ext cx="1874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Scale-Up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128016" y="16459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dirty="0"/>
              <a:t>Syntax Squad</a:t>
            </a:r>
          </a:p>
        </p:txBody>
      </p:sp>
      <p:pic>
        <p:nvPicPr>
          <p:cNvPr id="4" name="Image 0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28016"/>
            <a:ext cx="1783080" cy="8366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274320" y="65471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597335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868680"/>
            <a:ext cx="5532120" cy="4892040"/>
          </a:xfrm>
          <a:prstGeom prst="rect">
            <a:avLst/>
          </a:prstGeom>
          <a:solidFill>
            <a:srgbClr val="C8DB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502920" y="99669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Benefits: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380744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Faster Screening: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first-level document review time through automated multi-signal checks.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203704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Reduced Manual Burden: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Cuts repetitive manual verification effort for authorized personnel.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3026664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Consistent Verification: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Applies the same structured criteria to every document, reducing reviewer variance.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3849624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Risk-Based Case Prioritization: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Surfaces higher-risk documents first for focused human attention.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4672584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Secure Auditability: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Maintains a traceable, tamper-evident record of every verification decision.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868680"/>
            <a:ext cx="5532120" cy="4892040"/>
          </a:xfrm>
          <a:prstGeom prst="rect">
            <a:avLst/>
          </a:prstGeom>
          <a:solidFill>
            <a:srgbClr val="C8DB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6309360" y="99669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Impacts: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1380744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Social / Security Impact: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Stronger identity screening and earlier detection of suspicious documents.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368296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Operational Impact: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first-level screening and more consistent verification outcomes.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3355848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Governance Impact: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verification evidence, traceable audit history, human-in-the-loop decisions.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3434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Scalability: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Applicable across airports, land borders, seaports, immigration workflows, and investigation support.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" y="5888736"/>
            <a:ext cx="1156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"DOCAuth INDIA assists trained personnel — it does not replace them."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128016" y="16459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dirty="0"/>
              <a:t>Syntax Squad</a:t>
            </a:r>
          </a:p>
        </p:txBody>
      </p:sp>
      <p:pic>
        <p:nvPicPr>
          <p:cNvPr id="4" name="Image 0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28016"/>
            <a:ext cx="1783080" cy="8366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274320" y="65471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597335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960120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 — Problem Statement 26188, official portal.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63624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Ministry of Home Affairs, Government of India — official resources on identity and document verification.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167128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ICAO Doc 9303 — Machine Readable Travel Documents, International Civil Aviation Organization.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770632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Documentation — open-source computer vision library reference.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374136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literature on document image tampering and forgery detection.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977640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literature on face verification and face presentation-attack detection.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581144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</a:t>
            </a: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 — Authentication, Authorization, and Security Practices, Open Worldwide Application Security Project.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184648"/>
            <a:ext cx="11292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921</Words>
  <Application>Microsoft Office PowerPoint</Application>
  <PresentationFormat>Widescreen</PresentationFormat>
  <Paragraphs>152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</cp:lastModifiedBy>
  <cp:revision>6</cp:revision>
  <dcterms:created xsi:type="dcterms:W3CDTF">2026-09-09T05:36:00Z</dcterms:created>
  <dcterms:modified xsi:type="dcterms:W3CDTF">2026-09-10T11:41:55Z</dcterms:modified>
</cp:coreProperties>
</file>